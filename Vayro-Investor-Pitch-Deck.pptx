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2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7589520" y="-914400"/>
            <a:ext cx="5669280" cy="5669280"/>
          </a:xfrm>
          <a:prstGeom prst="arc">
            <a:avLst/>
          </a:prstGeom>
          <a:solidFill>
            <a:srgbClr val="D8E66A">
              <a:alpha val="88000"/>
            </a:srgbClr>
          </a:solidFill>
          <a:ln w="12700">
            <a:solidFill>
              <a:srgbClr val="D8E66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38360" y="4389120"/>
            <a:ext cx="2057400" cy="2057400"/>
          </a:xfrm>
          <a:prstGeom prst="ellipse">
            <a:avLst/>
          </a:prstGeom>
          <a:solidFill>
            <a:srgbClr val="EFA65A"/>
          </a:solidFill>
          <a:ln w="12700">
            <a:solidFill>
              <a:srgbClr val="EFA6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94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500" kern="0" dirty="0">
                <a:solidFill>
                  <a:srgbClr val="D8E66A"/>
                </a:solidFill>
              </a:rPr>
              <a:t>VAYRO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" y="1508760"/>
            <a:ext cx="7406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Rent anything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that moves.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13232" y="379476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CBD8D1"/>
                </a:solidFill>
              </a:rPr>
              <a:t>The trusted peer-to-peer marketplace for cars, RVs, boats, motorcycles, trailers and adventure vehicles.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5989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8E66A"/>
                </a:solidFill>
              </a:rPr>
              <a:t>INVESTOR DECK  ·  AUGUST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3C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VAYRO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738360" y="23774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7716B"/>
                </a:solidFill>
              </a:rPr>
              <a:t>vayro.onrender.com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8E66A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D2520"/>
                </a:solidFill>
              </a:rPr>
              <a:t>Adventure inventory is fragmented. Trust is thinner.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21488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7716B"/>
                </a:solidFill>
              </a:rPr>
              <a:t>Renters jump between category-specific platforms. Owners navigate inconsistent tools, fees, verification and payout systems.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347472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EDCD3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3081528"/>
            <a:ext cx="73152" cy="502920"/>
          </a:xfrm>
          <a:prstGeom prst="rect">
            <a:avLst/>
          </a:prstGeom>
          <a:solidFill>
            <a:srgbClr val="EFA65A"/>
          </a:solidFill>
          <a:ln w="12700">
            <a:solidFill>
              <a:srgbClr val="EFA6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3063240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D2520"/>
                </a:solidFill>
              </a:rPr>
              <a:t>Too many marketplaces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24128" y="3520440"/>
            <a:ext cx="2880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716B"/>
                </a:solidFill>
              </a:rPr>
              <a:t>Cars, RVs, boats and powersports live in separate ecosystems—creating repeated onboarding and weak cross-category discovery.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61688" y="2880360"/>
            <a:ext cx="347472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EDCD3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6280" y="3081528"/>
            <a:ext cx="73152" cy="502920"/>
          </a:xfrm>
          <a:prstGeom prst="rect">
            <a:avLst/>
          </a:prstGeom>
          <a:solidFill>
            <a:srgbClr val="123C2B"/>
          </a:solidFill>
          <a:ln w="12700">
            <a:solidFill>
              <a:srgbClr val="123C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45736" y="3063240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D2520"/>
                </a:solidFill>
              </a:rPr>
              <a:t>Idle assets, hard operations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45736" y="3520440"/>
            <a:ext cx="2880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716B"/>
                </a:solidFill>
              </a:rPr>
              <a:t>Owners need availability, messaging, approvals, earnings and payouts in one operating system.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74152" y="2880360"/>
            <a:ext cx="347472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EDCD3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38744" y="3081528"/>
            <a:ext cx="73152" cy="502920"/>
          </a:xfrm>
          <a:prstGeom prst="rect">
            <a:avLst/>
          </a:prstGeom>
          <a:solidFill>
            <a:srgbClr val="D8E66A"/>
          </a:solidFill>
          <a:ln w="12700">
            <a:solidFill>
              <a:srgbClr val="D8E6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58200" y="3063240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D2520"/>
                </a:solidFill>
              </a:rPr>
              <a:t>Trust is the bottleneck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58200" y="3520440"/>
            <a:ext cx="2880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716B"/>
                </a:solidFill>
              </a:rPr>
              <a:t>Vehicle accuracy, renter identity, payment integrity and future protection must work together—not as bolt-ons.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7716B"/>
                </a:solidFill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2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E6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VAYRO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738360" y="23774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9B0"/>
                </a:solidFill>
              </a:rPr>
              <a:t>vayro.onrender.com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8E66A"/>
                </a:solidFill>
              </a:rPr>
              <a:t>THE SOLUTION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One marketplace for every kind of motion.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21488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9D4CE"/>
                </a:solidFill>
              </a:rPr>
              <a:t>Vayro combines broad adventure inventory with a unified trust, booking and owner-management layer.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8803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D8E66A"/>
                </a:solidFill>
              </a:rPr>
              <a:t>12+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685800" y="35387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D4CE"/>
                </a:solidFill>
              </a:rPr>
              <a:t>Vehicle categories supported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703320" y="28803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D8E66A"/>
                </a:solidFill>
              </a:rPr>
              <a:t>1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3703320" y="35387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D4CE"/>
                </a:solidFill>
              </a:rPr>
              <a:t>Identity across every category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20840" y="28803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D8E66A"/>
                </a:solidFill>
              </a:rPr>
              <a:t>10% / 7.5%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6720840" y="35387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D4CE"/>
                </a:solidFill>
              </a:rPr>
              <a:t>Standard / member renter fee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4709160"/>
            <a:ext cx="9966960" cy="0"/>
          </a:xfrm>
          <a:prstGeom prst="line">
            <a:avLst/>
          </a:prstGeom>
          <a:noFill/>
          <a:ln w="12700">
            <a:solidFill>
              <a:srgbClr val="5972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50749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SEARCH  →  VERIFY  →  REQUEST  →  OWNER ACCEPTS  →  STRIPE CHECKOUT  →  TRIP  →  REVIEW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7716B"/>
                </a:solidFill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3C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VAYRO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738360" y="23774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7716B"/>
                </a:solidFill>
              </a:rPr>
              <a:t>vayro.onrender.com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8E66A"/>
                </a:solidFill>
              </a:rPr>
              <a:t>PRODUCT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D2520"/>
                </a:solidFill>
              </a:rPr>
              <a:t>A production MVP—not a landing page.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21488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7716B"/>
                </a:solidFill>
              </a:rPr>
              <a:t>Live on Render with PostgreSQL persistence, server authorization and real Stripe test integrations.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788920"/>
            <a:ext cx="10607040" cy="475488"/>
          </a:xfrm>
          <a:prstGeom prst="roundRect">
            <a:avLst>
              <a:gd name="adj" fmla="val 9615"/>
            </a:avLst>
          </a:prstGeom>
          <a:solidFill>
            <a:srgbClr val="DDE7DC"/>
          </a:solidFill>
          <a:ln w="12700">
            <a:solidFill>
              <a:srgbClr val="DDE7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89864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C2B"/>
                </a:solidFill>
              </a:rPr>
              <a:t>Discover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77440" y="2898648"/>
            <a:ext cx="8549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D2520"/>
                </a:solidFill>
              </a:rPr>
              <a:t>Location + dates, category and price filters, favorites, saved searches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3410712"/>
            <a:ext cx="106070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52044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C2B"/>
                </a:solidFill>
              </a:rPr>
              <a:t>Book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77440" y="3520440"/>
            <a:ext cx="8549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D2520"/>
                </a:solidFill>
              </a:rPr>
              <a:t>Availability blocks, overlap prevention, requests, accept/decline, trips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4032504"/>
            <a:ext cx="10607040" cy="475488"/>
          </a:xfrm>
          <a:prstGeom prst="roundRect">
            <a:avLst>
              <a:gd name="adj" fmla="val 9615"/>
            </a:avLst>
          </a:prstGeom>
          <a:solidFill>
            <a:srgbClr val="DDE7DC"/>
          </a:solidFill>
          <a:ln w="12700">
            <a:solidFill>
              <a:srgbClr val="DDE7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414223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C2B"/>
                </a:solidFill>
              </a:rPr>
              <a:t>Operate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77440" y="4142232"/>
            <a:ext cx="8549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D2520"/>
                </a:solidFill>
              </a:rPr>
              <a:t>Owner listings, photo upload, calendar, messaging, notifications, earnings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" y="4654296"/>
            <a:ext cx="106070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E5E2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76402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C2B"/>
                </a:solidFill>
              </a:rPr>
              <a:t>Trust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377440" y="4764024"/>
            <a:ext cx="8549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D2520"/>
                </a:solidFill>
              </a:rPr>
              <a:t>Hosted identity, vehicle verification workflow, reviews, admin controls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20" y="5276088"/>
            <a:ext cx="10607040" cy="475488"/>
          </a:xfrm>
          <a:prstGeom prst="roundRect">
            <a:avLst>
              <a:gd name="adj" fmla="val 9615"/>
            </a:avLst>
          </a:prstGeom>
          <a:solidFill>
            <a:srgbClr val="DDE7DC"/>
          </a:solidFill>
          <a:ln w="12700">
            <a:solidFill>
              <a:srgbClr val="DDE7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538581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C2B"/>
                </a:solidFill>
              </a:rPr>
              <a:t>Monetize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377440" y="5385816"/>
            <a:ext cx="8549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D2520"/>
                </a:solidFill>
              </a:rPr>
              <a:t>Subscriptions, fee allocation, Connect onboarding, webhook-confirmed payments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7716B"/>
                </a:solidFill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3C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VAYRO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738360" y="23774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7716B"/>
                </a:solidFill>
              </a:rPr>
              <a:t>vayro.onrender.com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8E66A"/>
                </a:solidFill>
              </a:rPr>
              <a:t>MARKET WEDGE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D2520"/>
                </a:solidFill>
              </a:rPr>
              <a:t>Start where adventure demand overlaps supply.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21488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7716B"/>
                </a:solidFill>
              </a:rPr>
              <a:t>A category-spanning platform can acquire users once and monetize them across seasons and vehicle types.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788920"/>
            <a:ext cx="33832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EDCD3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96112" y="2990088"/>
            <a:ext cx="73152" cy="502920"/>
          </a:xfrm>
          <a:prstGeom prst="rect">
            <a:avLst/>
          </a:prstGeom>
          <a:solidFill>
            <a:srgbClr val="EFA65A"/>
          </a:solidFill>
          <a:ln w="12700">
            <a:solidFill>
              <a:srgbClr val="EFA6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71800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D2520"/>
                </a:solidFill>
              </a:rPr>
              <a:t>Beach + desert launch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5568" y="3429000"/>
            <a:ext cx="2788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716B"/>
                </a:solidFill>
              </a:rPr>
              <a:t>San Diego / Southern California offers year-round cars, boats, jet skis, campers, motorcycles and off-road inventory.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07408" y="2788920"/>
            <a:ext cx="33832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EDCD3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2990088"/>
            <a:ext cx="73152" cy="502920"/>
          </a:xfrm>
          <a:prstGeom prst="rect">
            <a:avLst/>
          </a:prstGeom>
          <a:solidFill>
            <a:srgbClr val="123C2B"/>
          </a:solidFill>
          <a:ln w="12700">
            <a:solidFill>
              <a:srgbClr val="123C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91456" y="2971800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D2520"/>
                </a:solidFill>
              </a:rPr>
              <a:t>Owner-led liquidity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91456" y="3429000"/>
            <a:ext cx="2788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716B"/>
                </a:solidFill>
              </a:rPr>
              <a:t>Recruit multi-asset owners and small fleet operators before broad renter acquisition.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74152" y="2788920"/>
            <a:ext cx="33832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EDCD3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38744" y="2990088"/>
            <a:ext cx="73152" cy="502920"/>
          </a:xfrm>
          <a:prstGeom prst="rect">
            <a:avLst/>
          </a:prstGeom>
          <a:solidFill>
            <a:srgbClr val="D8E66A"/>
          </a:solidFill>
          <a:ln w="12700">
            <a:solidFill>
              <a:srgbClr val="D8E6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58200" y="2971800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D2520"/>
                </a:solidFill>
              </a:rPr>
              <a:t>Cross-category LTV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58200" y="3429000"/>
            <a:ext cx="2788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716B"/>
                </a:solidFill>
              </a:rPr>
              <a:t>A renter can book a Bronco today, a boat next month and an RV next season—inside one trusted identity.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77240" y="562356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7716B"/>
                </a:solidFill>
              </a:rPr>
              <a:t>Initial wedge, not a fabricated market-size claim. Bottom-up market sizing follows verified supply and conversion data.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7716B"/>
                </a:solidFill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2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E6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VAYRO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738360" y="23774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9B0"/>
                </a:solidFill>
              </a:rPr>
              <a:t>vayro.onrender.com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8E66A"/>
                </a:solidFill>
              </a:rPr>
              <a:t>BUSINESS MODEL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Marketplace take rate + recurring membership.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21488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9D4CE"/>
                </a:solidFill>
              </a:rPr>
              <a:t>Owners decide who pays the fee—renter, owner or a 50/50 split—similar to seller-controlled marketplace economics.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D8E66A"/>
                </a:solidFill>
              </a:rPr>
              <a:t>10%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731520" y="344728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D4CE"/>
                </a:solidFill>
              </a:rPr>
              <a:t>Standard marketplace fee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703320" y="27889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D8E66A"/>
                </a:solidFill>
              </a:rPr>
              <a:t>7.5%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3703320" y="344728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D4CE"/>
                </a:solidFill>
              </a:rPr>
              <a:t>Active Vayro Plus fee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75120" y="27889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D8E66A"/>
                </a:solidFill>
              </a:rPr>
              <a:t>$6.99 / $19 / $190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6675120" y="344728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D4CE"/>
                </a:solidFill>
              </a:rPr>
              <a:t>Weekly / monthly / yearly Plus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617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E66A"/>
                </a:solidFill>
              </a:rPr>
              <a:t>Illustrative $1,000 rental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88920" y="4617720"/>
            <a:ext cx="6858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88920" y="4617720"/>
            <a:ext cx="685800" cy="411480"/>
          </a:xfrm>
          <a:prstGeom prst="rect">
            <a:avLst/>
          </a:prstGeom>
          <a:solidFill>
            <a:srgbClr val="EFA65A"/>
          </a:solidFill>
          <a:ln w="12700">
            <a:solidFill>
              <a:srgbClr val="EFA6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71800" y="4690872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291D"/>
                </a:solidFill>
              </a:rPr>
              <a:t>$100 platform fee · $900 owner payout before other adjustments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55778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4CE"/>
                </a:solidFill>
              </a:rPr>
              <a:t>Payment state is confirmed by signed Stripe webhooks; browser redirects never mark a booking paid.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7716B"/>
                </a:solidFill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3C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VAYRO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738360" y="23774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7716B"/>
                </a:solidFill>
              </a:rPr>
              <a:t>vayro.onrender.com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8E66A"/>
                </a:solidFill>
              </a:rPr>
              <a:t>TRUST STACK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D2520"/>
                </a:solidFill>
              </a:rPr>
              <a:t>Trust is infrastructure, not marketing copy.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21488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7716B"/>
                </a:solidFill>
              </a:rPr>
              <a:t>Vayro minimizes sensitive-data custody and gates marketplace actions on server-verified state.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260604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EDCD3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50392" y="2990088"/>
            <a:ext cx="73152" cy="502920"/>
          </a:xfrm>
          <a:prstGeom prst="rect">
            <a:avLst/>
          </a:prstGeom>
          <a:solidFill>
            <a:srgbClr val="D8E66A"/>
          </a:solidFill>
          <a:ln w="12700">
            <a:solidFill>
              <a:srgbClr val="D8E6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848" y="2971800"/>
            <a:ext cx="203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D2520"/>
                </a:solidFill>
              </a:rPr>
              <a:t>Identity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69848" y="3429000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716B"/>
                </a:solidFill>
              </a:rPr>
              <a:t>Stripe-hosted government ID + matching selfie. Vayro stores status and timestamps—not documents or SSNs.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29000" y="2788920"/>
            <a:ext cx="260604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EDCD3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93592" y="2990088"/>
            <a:ext cx="73152" cy="502920"/>
          </a:xfrm>
          <a:prstGeom prst="rect">
            <a:avLst/>
          </a:prstGeom>
          <a:solidFill>
            <a:srgbClr val="EFA65A"/>
          </a:solidFill>
          <a:ln w="12700">
            <a:solidFill>
              <a:srgbClr val="EFA6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13048" y="2971800"/>
            <a:ext cx="203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D2520"/>
                </a:solidFill>
              </a:rPr>
              <a:t>Money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13048" y="3429000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716B"/>
                </a:solidFill>
              </a:rPr>
              <a:t>Stripe Checkout + Connect destination transfers, signed webhooks and paid-only earnings.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72200" y="2788920"/>
            <a:ext cx="260604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EDCD3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36792" y="2990088"/>
            <a:ext cx="73152" cy="502920"/>
          </a:xfrm>
          <a:prstGeom prst="rect">
            <a:avLst/>
          </a:prstGeom>
          <a:solidFill>
            <a:srgbClr val="123C2B"/>
          </a:solidFill>
          <a:ln w="12700">
            <a:solidFill>
              <a:srgbClr val="123C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56248" y="2971800"/>
            <a:ext cx="203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D2520"/>
                </a:solidFill>
              </a:rPr>
              <a:t>Inventory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56248" y="3429000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716B"/>
                </a:solidFill>
              </a:rPr>
              <a:t>Photo-source disclosure, VIN/registration workflow, availability and transactional overlap checks.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15400" y="2788920"/>
            <a:ext cx="260604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EDCD3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79992" y="2990088"/>
            <a:ext cx="73152" cy="502920"/>
          </a:xfrm>
          <a:prstGeom prst="rect">
            <a:avLst/>
          </a:prstGeom>
          <a:solidFill>
            <a:srgbClr val="D8E66A"/>
          </a:solidFill>
          <a:ln w="12700">
            <a:solidFill>
              <a:srgbClr val="D8E6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99448" y="2971800"/>
            <a:ext cx="203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D2520"/>
                </a:solidFill>
              </a:rPr>
              <a:t>Safety roadmap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99448" y="3429000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716B"/>
                </a:solidFill>
              </a:rPr>
              <a:t>Future insurance partner, claims operations and opt-in tracker benefits after traction.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7716B"/>
                </a:solidFill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2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E6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VAYRO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738360" y="23774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9B0"/>
                </a:solidFill>
              </a:rPr>
              <a:t>vayro.onrender.com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8E66A"/>
                </a:solidFill>
              </a:rPr>
              <a:t>GO TO MARKET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Build density before breadth.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21488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9D4CE"/>
                </a:solidFill>
              </a:rPr>
              <a:t>A city-by-city playbook designed around supply quality, repeat owners and trusted local demand.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E66A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Recruit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379476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9D4CE"/>
                </a:solidFill>
              </a:rPr>
              <a:t>Founding owners, specialty fleets, marinas, RV operators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63240" y="3383280"/>
            <a:ext cx="320040" cy="548640"/>
          </a:xfrm>
          <a:prstGeom prst="chevron">
            <a:avLst/>
          </a:prstGeom>
          <a:solidFill>
            <a:srgbClr val="597267"/>
          </a:solidFill>
          <a:ln w="12700">
            <a:solidFill>
              <a:srgbClr val="5972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2743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E66A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3246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Verify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20440" y="379476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9D4CE"/>
                </a:solidFill>
              </a:rPr>
              <a:t>High-quality listings, model-accurate photos, trust readiness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52160" y="3383280"/>
            <a:ext cx="320040" cy="548640"/>
          </a:xfrm>
          <a:prstGeom prst="chevron">
            <a:avLst/>
          </a:prstGeom>
          <a:solidFill>
            <a:srgbClr val="597267"/>
          </a:solidFill>
          <a:ln w="12700">
            <a:solidFill>
              <a:srgbClr val="5972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2743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E66A"/>
                </a:solidFill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3246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Activate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09360" y="379476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9D4CE"/>
                </a:solidFill>
              </a:rPr>
              <a:t>Local adventure partnerships, communities, referral loops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41080" y="3383280"/>
            <a:ext cx="320040" cy="548640"/>
          </a:xfrm>
          <a:prstGeom prst="chevron">
            <a:avLst/>
          </a:prstGeom>
          <a:solidFill>
            <a:srgbClr val="597267"/>
          </a:solidFill>
          <a:ln w="12700">
            <a:solidFill>
              <a:srgbClr val="5972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98280" y="2743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E66A"/>
                </a:solidFill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098280" y="3246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Retain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098280" y="379476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9D4CE"/>
                </a:solidFill>
              </a:rPr>
              <a:t>Plus economics, cross-category discovery, seasonal rebooking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7716B"/>
                </a:solidFill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3C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VAYRO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738360" y="23774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7716B"/>
                </a:solidFill>
              </a:rPr>
              <a:t>vayro.onrender.com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8E66A"/>
                </a:solidFill>
              </a:rPr>
              <a:t>COMPETITIVE POSITION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D2520"/>
                </a:solidFill>
              </a:rPr>
              <a:t>Category breadth with a unified owner OS.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21488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7716B"/>
                </a:solidFill>
              </a:rPr>
              <a:t>Vayro’s wedge is not “another Turo”—it is one identity, one owner workflow and one trust layer across moving assets.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2331720" cy="530352"/>
          </a:xfrm>
          <a:prstGeom prst="rect">
            <a:avLst/>
          </a:prstGeom>
          <a:solidFill>
            <a:srgbClr val="123C2B"/>
          </a:solidFill>
          <a:ln w="12700">
            <a:solidFill>
              <a:srgbClr val="DEDC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2935224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Platform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017520" y="2788920"/>
            <a:ext cx="1143000" cy="530352"/>
          </a:xfrm>
          <a:prstGeom prst="rect">
            <a:avLst/>
          </a:prstGeom>
          <a:solidFill>
            <a:srgbClr val="123C2B"/>
          </a:solidFill>
          <a:ln w="12700">
            <a:solidFill>
              <a:srgbClr val="DEDC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90672" y="2935224"/>
            <a:ext cx="996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Cars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60520" y="2788920"/>
            <a:ext cx="1143000" cy="530352"/>
          </a:xfrm>
          <a:prstGeom prst="rect">
            <a:avLst/>
          </a:prstGeom>
          <a:solidFill>
            <a:srgbClr val="123C2B"/>
          </a:solidFill>
          <a:ln w="12700">
            <a:solidFill>
              <a:srgbClr val="DEDC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33672" y="2935224"/>
            <a:ext cx="996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RVs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03520" y="2788920"/>
            <a:ext cx="1143000" cy="530352"/>
          </a:xfrm>
          <a:prstGeom prst="rect">
            <a:avLst/>
          </a:prstGeom>
          <a:solidFill>
            <a:srgbClr val="123C2B"/>
          </a:solidFill>
          <a:ln w="12700">
            <a:solidFill>
              <a:srgbClr val="DEDC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76672" y="2935224"/>
            <a:ext cx="996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Boats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46520" y="2788920"/>
            <a:ext cx="1417320" cy="530352"/>
          </a:xfrm>
          <a:prstGeom prst="rect">
            <a:avLst/>
          </a:prstGeom>
          <a:solidFill>
            <a:srgbClr val="123C2B"/>
          </a:solidFill>
          <a:ln w="12700">
            <a:solidFill>
              <a:srgbClr val="DEDC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9672" y="2935224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Powersports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863840" y="2788920"/>
            <a:ext cx="1965960" cy="530352"/>
          </a:xfrm>
          <a:prstGeom prst="rect">
            <a:avLst/>
          </a:prstGeom>
          <a:solidFill>
            <a:srgbClr val="123C2B"/>
          </a:solidFill>
          <a:ln w="12700">
            <a:solidFill>
              <a:srgbClr val="DEDC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36992" y="2935224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Unified owner OS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" y="3447288"/>
            <a:ext cx="2331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C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" y="3593592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2520"/>
                </a:solidFill>
              </a:rPr>
              <a:t>Category specialists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017520" y="3447288"/>
            <a:ext cx="1143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CD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90672" y="3593592"/>
            <a:ext cx="996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520"/>
                </a:solidFill>
              </a:rPr>
              <a:t>●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60520" y="3447288"/>
            <a:ext cx="1143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CD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33672" y="3593592"/>
            <a:ext cx="996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520"/>
                </a:solidFill>
              </a:rPr>
              <a:t>—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03520" y="3447288"/>
            <a:ext cx="1143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CD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76672" y="3593592"/>
            <a:ext cx="996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520"/>
                </a:solidFill>
              </a:rPr>
              <a:t>—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46520" y="3447288"/>
            <a:ext cx="1417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CD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19672" y="3593592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520"/>
                </a:solidFill>
              </a:rPr>
              <a:t>—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863840" y="3447288"/>
            <a:ext cx="1965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CD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36992" y="3593592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520"/>
                </a:solidFill>
              </a:rPr>
              <a:t>Limited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85800" y="4105656"/>
            <a:ext cx="2331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CD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4251960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2520"/>
                </a:solidFill>
              </a:rPr>
              <a:t>Horizontal classifieds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017520" y="4105656"/>
            <a:ext cx="1143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CD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90672" y="4251960"/>
            <a:ext cx="996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520"/>
                </a:solidFill>
              </a:rPr>
              <a:t>●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160520" y="4105656"/>
            <a:ext cx="1143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CD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33672" y="4251960"/>
            <a:ext cx="996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520"/>
                </a:solidFill>
              </a:rPr>
              <a:t>●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303520" y="4105656"/>
            <a:ext cx="1143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CD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76672" y="4251960"/>
            <a:ext cx="996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520"/>
                </a:solidFill>
              </a:rPr>
              <a:t>●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46520" y="4105656"/>
            <a:ext cx="1417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CD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19672" y="4251960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520"/>
                </a:solidFill>
              </a:rPr>
              <a:t>●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863840" y="4105656"/>
            <a:ext cx="1965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CD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36992" y="4251960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520"/>
                </a:solidFill>
              </a:rPr>
              <a:t>No booking/trust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85800" y="4764024"/>
            <a:ext cx="2331720" cy="530352"/>
          </a:xfrm>
          <a:prstGeom prst="rect">
            <a:avLst/>
          </a:prstGeom>
          <a:solidFill>
            <a:srgbClr val="DDE7DC"/>
          </a:solidFill>
          <a:ln w="12700">
            <a:solidFill>
              <a:srgbClr val="DEDCD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8952" y="4910328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3C2B"/>
                </a:solidFill>
              </a:rPr>
              <a:t>Vayro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017520" y="4764024"/>
            <a:ext cx="1143000" cy="530352"/>
          </a:xfrm>
          <a:prstGeom prst="rect">
            <a:avLst/>
          </a:prstGeom>
          <a:solidFill>
            <a:srgbClr val="DDE7DC"/>
          </a:solidFill>
          <a:ln w="12700">
            <a:solidFill>
              <a:srgbClr val="DEDCD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90672" y="4910328"/>
            <a:ext cx="996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23C2B"/>
                </a:solidFill>
              </a:rPr>
              <a:t>●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160520" y="4764024"/>
            <a:ext cx="1143000" cy="530352"/>
          </a:xfrm>
          <a:prstGeom prst="rect">
            <a:avLst/>
          </a:prstGeom>
          <a:solidFill>
            <a:srgbClr val="DDE7DC"/>
          </a:solidFill>
          <a:ln w="12700">
            <a:solidFill>
              <a:srgbClr val="DEDCD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33672" y="4910328"/>
            <a:ext cx="996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23C2B"/>
                </a:solidFill>
              </a:rPr>
              <a:t>●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303520" y="4764024"/>
            <a:ext cx="1143000" cy="530352"/>
          </a:xfrm>
          <a:prstGeom prst="rect">
            <a:avLst/>
          </a:prstGeom>
          <a:solidFill>
            <a:srgbClr val="DDE7DC"/>
          </a:solidFill>
          <a:ln w="12700">
            <a:solidFill>
              <a:srgbClr val="DEDCD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76672" y="4910328"/>
            <a:ext cx="996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23C2B"/>
                </a:solidFill>
              </a:rPr>
              <a:t>●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446520" y="4764024"/>
            <a:ext cx="1417320" cy="530352"/>
          </a:xfrm>
          <a:prstGeom prst="rect">
            <a:avLst/>
          </a:prstGeom>
          <a:solidFill>
            <a:srgbClr val="DDE7DC"/>
          </a:solidFill>
          <a:ln w="12700">
            <a:solidFill>
              <a:srgbClr val="DEDCD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19672" y="4910328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23C2B"/>
                </a:solidFill>
              </a:rPr>
              <a:t>●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863840" y="4764024"/>
            <a:ext cx="1965960" cy="530352"/>
          </a:xfrm>
          <a:prstGeom prst="rect">
            <a:avLst/>
          </a:prstGeom>
          <a:solidFill>
            <a:srgbClr val="DDE7DC"/>
          </a:solidFill>
          <a:ln w="12700">
            <a:solidFill>
              <a:srgbClr val="DEDCD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936992" y="491032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23C2B"/>
                </a:solidFill>
              </a:rPr>
              <a:t>Yes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31520" y="57607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7716B"/>
                </a:solidFill>
              </a:rPr>
              <a:t>Competitive framing is directional; formal feature/pricing audit is a diligence workstream.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7716B"/>
                </a:solidFill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3C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VAYRO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738360" y="23774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7716B"/>
                </a:solidFill>
              </a:rPr>
              <a:t>vayro.onrender.com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8E66A"/>
                </a:solidFill>
              </a:rPr>
              <a:t>ROADMAP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D2520"/>
                </a:solidFill>
              </a:rPr>
              <a:t>From working marketplace to defensible network.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21488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7716B"/>
                </a:solidFill>
              </a:rPr>
              <a:t>Sequence regulation, protection and hardware partnerships behind verified demand—not ahead of it.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23C2B"/>
                </a:solidFill>
              </a:rPr>
              <a:t>NOW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37360" y="26791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520"/>
                </a:solidFill>
              </a:rPr>
              <a:t>Production MVP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60520" y="269748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716B"/>
                </a:solidFill>
              </a:rPr>
              <a:t>Bookings · messaging · photos · admin · Stripe test stack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3182112"/>
            <a:ext cx="10241280" cy="0"/>
          </a:xfrm>
          <a:prstGeom prst="line">
            <a:avLst/>
          </a:prstGeom>
          <a:noFill/>
          <a:ln w="12700">
            <a:solidFill>
              <a:srgbClr val="D8D5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4472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23C2B"/>
                </a:solidFill>
              </a:rPr>
              <a:t>NEXT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34290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520"/>
                </a:solidFill>
              </a:rPr>
              <a:t>Market readiness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160520" y="344728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716B"/>
                </a:solidFill>
              </a:rPr>
              <a:t>Live Stripe · legal policies · support ops · Cloudinary · email · maps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3931920"/>
            <a:ext cx="10241280" cy="0"/>
          </a:xfrm>
          <a:prstGeom prst="line">
            <a:avLst/>
          </a:prstGeom>
          <a:noFill/>
          <a:ln w="12700">
            <a:solidFill>
              <a:srgbClr val="D8D5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1970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23C2B"/>
                </a:solidFill>
              </a:rPr>
              <a:t>THEN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37360" y="417880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520"/>
                </a:solidFill>
              </a:rPr>
              <a:t>Protection layer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160520" y="419709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716B"/>
                </a:solidFill>
              </a:rPr>
              <a:t>Insurance partner · claims workflow · driver checks · deposits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31520" y="4681728"/>
            <a:ext cx="10241280" cy="0"/>
          </a:xfrm>
          <a:prstGeom prst="line">
            <a:avLst/>
          </a:prstGeom>
          <a:noFill/>
          <a:ln w="12700">
            <a:solidFill>
              <a:srgbClr val="D8D5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9469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23C2B"/>
                </a:solidFill>
              </a:rPr>
              <a:t>SCALE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737360" y="492861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520"/>
                </a:solidFill>
              </a:rPr>
              <a:t>Network advantage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160520" y="494690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716B"/>
                </a:solidFill>
              </a:rPr>
              <a:t>Tracker program · fleet tools · pricing intelligence · expansion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31520" y="5431536"/>
            <a:ext cx="10241280" cy="0"/>
          </a:xfrm>
          <a:prstGeom prst="line">
            <a:avLst/>
          </a:prstGeom>
          <a:noFill/>
          <a:ln w="12700">
            <a:solidFill>
              <a:srgbClr val="D8D5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7716B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2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E6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VAYRO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738360" y="23774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9B0"/>
                </a:solidFill>
              </a:rPr>
              <a:t>vayro.onrender.com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8E66A"/>
                </a:solidFill>
              </a:rPr>
              <a:t>MILESTONES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exists today. What must be proven next.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21488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9D4CE"/>
                </a:solidFill>
              </a:rPr>
              <a:t>Transparent early-stage status: product and infrastructure are live; traction metrics have not yet been claimed.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788920"/>
            <a:ext cx="33375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EDCD3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96112" y="2990088"/>
            <a:ext cx="73152" cy="502920"/>
          </a:xfrm>
          <a:prstGeom prst="rect">
            <a:avLst/>
          </a:prstGeom>
          <a:solidFill>
            <a:srgbClr val="D8E66A"/>
          </a:solidFill>
          <a:ln w="12700">
            <a:solidFill>
              <a:srgbClr val="D8E6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71800"/>
            <a:ext cx="2770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D2520"/>
                </a:solidFill>
              </a:rPr>
              <a:t>Built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5568" y="34290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716B"/>
                </a:solidFill>
              </a:rPr>
              <a:t>Live Render app · PostgreSQL · 4 migrations · seeded inventory · role auth · booking workflows · Stripe test Checkout/Identity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34840" y="2788920"/>
            <a:ext cx="33375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EDCD3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99432" y="2990088"/>
            <a:ext cx="73152" cy="502920"/>
          </a:xfrm>
          <a:prstGeom prst="rect">
            <a:avLst/>
          </a:prstGeom>
          <a:solidFill>
            <a:srgbClr val="EFA65A"/>
          </a:solidFill>
          <a:ln w="12700">
            <a:solidFill>
              <a:srgbClr val="EFA6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18888" y="2971800"/>
            <a:ext cx="2770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D2520"/>
                </a:solidFill>
              </a:rPr>
              <a:t>In activation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18888" y="34290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716B"/>
                </a:solidFill>
              </a:rPr>
              <a:t>Stripe Connect owner onboarding · live-mode keys · operating policies · production photo storage · support process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8160" y="2788920"/>
            <a:ext cx="33375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EDCD3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02752" y="2990088"/>
            <a:ext cx="73152" cy="502920"/>
          </a:xfrm>
          <a:prstGeom prst="rect">
            <a:avLst/>
          </a:prstGeom>
          <a:solidFill>
            <a:srgbClr val="123C2B"/>
          </a:solidFill>
          <a:ln w="12700">
            <a:solidFill>
              <a:srgbClr val="123C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22208" y="2971800"/>
            <a:ext cx="2770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D2520"/>
                </a:solidFill>
              </a:rPr>
              <a:t>Prove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22208" y="34290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716B"/>
                </a:solidFill>
              </a:rPr>
              <a:t>Supply density · search-to-request conversion · acceptance rate · paid booking rate · repeat use · contribution margin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7716B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3C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VAYRO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738360" y="23774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7716B"/>
                </a:solidFill>
              </a:rPr>
              <a:t>vayro.onrender.com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8E66A"/>
                </a:solidFill>
              </a:rPr>
              <a:t>THE ASK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D2520"/>
                </a:solidFill>
              </a:rPr>
              <a:t>Fund a focused market launch.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21488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7716B"/>
                </a:solidFill>
              </a:rPr>
              <a:t>Capital turns a functioning marketplace into a trusted, liquid local network.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788920"/>
            <a:ext cx="50749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EDC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953512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C2B"/>
                </a:solidFill>
              </a:rPr>
              <a:t>40%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65960" y="29992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D2520"/>
                </a:solidFill>
              </a:rPr>
              <a:t>Supply + demand acquisition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2788920"/>
            <a:ext cx="50749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EDC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953512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C2B"/>
                </a:solidFill>
              </a:rPr>
              <a:t>25%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498080" y="29992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D2520"/>
                </a:solidFill>
              </a:rPr>
              <a:t>Trust, insurance and safety operations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50749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EDC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959352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C2B"/>
                </a:solidFill>
              </a:rPr>
              <a:t>20%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965960" y="40050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D2520"/>
                </a:solidFill>
              </a:rPr>
              <a:t>Product, payments and owner tooling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3794760"/>
            <a:ext cx="50749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EDC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3959352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C2B"/>
                </a:solidFill>
              </a:rPr>
              <a:t>15%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498080" y="40050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D2520"/>
                </a:solidFill>
              </a:rPr>
              <a:t>Legal, compliance and customer support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31520" y="5577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123C2B"/>
                </a:solidFill>
              </a:rPr>
              <a:t>VAYRO  ·  RENT ANYTHING THAT MOVES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498080" y="544068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7716B"/>
                </a:solidFill>
              </a:rPr>
              <a:t>Live product: https://vayro.onrender.com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67716B"/>
                </a:solidFill>
              </a:rPr>
              <a:t>GitHub: https://github.com/sentience-network/vayro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7716B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Vayro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Vayro — Rent anything that moves</dc:title>
  <dc:subject>Investor pitch deck</dc:subject>
  <dc:creator>Vayro</dc:creator>
  <cp:lastModifiedBy>Vayro</cp:lastModifiedBy>
  <cp:revision>1</cp:revision>
  <dcterms:created xsi:type="dcterms:W3CDTF">2026-08-09T16:49:44Z</dcterms:created>
  <dcterms:modified xsi:type="dcterms:W3CDTF">2026-08-09T16:49:44Z</dcterms:modified>
</cp:coreProperties>
</file>